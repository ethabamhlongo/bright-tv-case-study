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1A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6F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F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A9D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A9DD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EB4E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EB4E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3CAF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SuperSport Live</c:v>
                  </c:pt>
                  <c:pt idx="1">
                    <c:v>ICC Cricket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SS Blitz</c:v>
                  </c:pt>
                  <c:pt idx="5">
                    <c:v>Africa Magic</c:v>
                  </c:pt>
                  <c:pt idx="6">
                    <c:v>Break</c:v>
                  </c:pt>
                  <c:pt idx="7">
                    <c:v>DStv Events</c:v>
                  </c:pt>
                  <c:pt idx="8">
                    <c:v>Live on SS</c:v>
                  </c:pt>
                  <c:pt idx="9">
                    <c:v>M-Net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1600</c:v>
                </c:pt>
                <c:pt idx="1">
                  <c:v>1450</c:v>
                </c:pt>
                <c:pt idx="2">
                  <c:v>1060</c:v>
                </c:pt>
                <c:pt idx="3">
                  <c:v>990</c:v>
                </c:pt>
                <c:pt idx="4">
                  <c:v>920</c:v>
                </c:pt>
                <c:pt idx="5">
                  <c:v>820</c:v>
                </c:pt>
                <c:pt idx="6">
                  <c:v>560</c:v>
                </c:pt>
                <c:pt idx="7">
                  <c:v>440</c:v>
                </c:pt>
                <c:pt idx="8">
                  <c:v>380</c:v>
                </c:pt>
                <c:pt idx="9">
                  <c:v>320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EB4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9D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A9D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6FB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C447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1400</c:v>
                </c:pt>
                <c:pt idx="1">
                  <c:v>980</c:v>
                </c:pt>
                <c:pt idx="2">
                  <c:v>1330</c:v>
                </c:pt>
                <c:pt idx="3">
                  <c:v>1540</c:v>
                </c:pt>
                <c:pt idx="4">
                  <c:v>1470</c:v>
                </c:pt>
                <c:pt idx="5">
                  <c:v>1640</c:v>
                </c:pt>
                <c:pt idx="6">
                  <c:v>1650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53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53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53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C447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878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F: Other</c:v>
                  </c:pt>
                  <c:pt idx="1">
                    <c:v>F: Prev.Disadv.</c:v>
                  </c:pt>
                  <c:pt idx="2">
                    <c:v>F: White</c:v>
                  </c:pt>
                  <c:pt idx="3">
                    <c:v>M: Other</c:v>
                  </c:pt>
                  <c:pt idx="4">
                    <c:v>M: Prev.Disadv.</c:v>
                  </c:pt>
                  <c:pt idx="5">
                    <c:v>M: White</c:v>
                  </c:pt>
                  <c:pt idx="6">
                    <c:v>Unidentified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108</c:v>
                </c:pt>
                <c:pt idx="1">
                  <c:v>348</c:v>
                </c:pt>
                <c:pt idx="2">
                  <c:v>81</c:v>
                </c:pt>
                <c:pt idx="3">
                  <c:v>1097</c:v>
                </c:pt>
                <c:pt idx="4">
                  <c:v>2142</c:v>
                </c:pt>
                <c:pt idx="5">
                  <c:v>679</c:v>
                </c:pt>
                <c:pt idx="6">
                  <c:v>920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6FB5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E55B4D"/>
              </a:solidFill>
              <a:effectLst/>
            </c:spPr>
          </c:dPt>
          <c:dPt>
            <c:idx val="3"/>
            <c:bubble3D val="0"/>
            <c:spPr>
              <a:solidFill>
                <a:srgbClr val="D4537E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8887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Young Adult</c:v>
                </c:pt>
                <c:pt idx="1">
                  <c:v>Adult</c:v>
                </c:pt>
                <c:pt idx="2">
                  <c:v>Pre-Teen</c:v>
                </c:pt>
                <c:pt idx="3">
                  <c:v>Middle Aged</c:v>
                </c:pt>
                <c:pt idx="4">
                  <c:v>Teen</c:v>
                </c:pt>
                <c:pt idx="5">
                  <c:v>Senior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</c:v>
                </c:pt>
                <c:pt idx="1">
                  <c:v>23</c:v>
                </c:pt>
                <c:pt idx="2">
                  <c:v>18</c:v>
                </c:pt>
                <c:pt idx="3">
                  <c:v>8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44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F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9D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EB4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A9D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EB4E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3CAFE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Western Cape</c:v>
                  </c:pt>
                  <c:pt idx="2">
                    <c:v>KZN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North West</c:v>
                  </c:pt>
                  <c:pt idx="7">
                    <c:v>Free State</c:v>
                  </c:pt>
                  <c:pt idx="8">
                    <c:v>Northern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3600</c:v>
                </c:pt>
                <c:pt idx="1">
                  <c:v>1900</c:v>
                </c:pt>
                <c:pt idx="2">
                  <c:v>1000</c:v>
                </c:pt>
                <c:pt idx="3">
                  <c:v>900</c:v>
                </c:pt>
                <c:pt idx="4">
                  <c:v>800</c:v>
                </c:pt>
                <c:pt idx="5">
                  <c:v>720</c:v>
                </c:pt>
                <c:pt idx="6">
                  <c:v>380</c:v>
                </c:pt>
                <c:pt idx="7">
                  <c:v>350</c:v>
                </c:pt>
                <c:pt idx="8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1A6FB5"/>
            </a:solidFill>
            <a:ln w="31750" cap="flat">
              <a:solidFill>
                <a:srgbClr val="1A6F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6FB5"/>
              </a:solidFill>
              <a:ln w="9525" cap="flat">
                <a:solidFill>
                  <a:srgbClr val="1A6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12am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5am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12pm</c:v>
                  </c:pt>
                  <c:pt idx="13">
                    <c:v>1</c:v>
                  </c:pt>
                  <c:pt idx="14">
                    <c:v>2</c:v>
                  </c:pt>
                  <c:pt idx="15">
                    <c:v>3pm</c:v>
                  </c:pt>
                  <c:pt idx="16">
                    <c:v>4</c:v>
                  </c:pt>
                  <c:pt idx="17">
                    <c:v>5</c:v>
                  </c:pt>
                  <c:pt idx="18">
                    <c:v>6</c:v>
                  </c:pt>
                  <c:pt idx="19">
                    <c:v>7</c:v>
                  </c:pt>
                  <c:pt idx="20">
                    <c:v>8</c:v>
                  </c:pt>
                  <c:pt idx="21">
                    <c:v>9pm</c:v>
                  </c:pt>
                  <c:pt idx="22">
                    <c:v>10</c:v>
                  </c:pt>
                  <c:pt idx="23">
                    <c:v>11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</c:v>
                </c:pt>
                <c:pt idx="1">
                  <c:v>55</c:v>
                </c:pt>
                <c:pt idx="2">
                  <c:v>45</c:v>
                </c:pt>
                <c:pt idx="3">
                  <c:v>50</c:v>
                </c:pt>
                <c:pt idx="4">
                  <c:v>95</c:v>
                </c:pt>
                <c:pt idx="5">
                  <c:v>300</c:v>
                </c:pt>
                <c:pt idx="6">
                  <c:v>400</c:v>
                </c:pt>
                <c:pt idx="7">
                  <c:v>400</c:v>
                </c:pt>
                <c:pt idx="8">
                  <c:v>540</c:v>
                </c:pt>
                <c:pt idx="9">
                  <c:v>540</c:v>
                </c:pt>
                <c:pt idx="10">
                  <c:v>640</c:v>
                </c:pt>
                <c:pt idx="11">
                  <c:v>570</c:v>
                </c:pt>
                <c:pt idx="12">
                  <c:v>60</c:v>
                </c:pt>
                <c:pt idx="13">
                  <c:v>640</c:v>
                </c:pt>
                <c:pt idx="14">
                  <c:v>630</c:v>
                </c:pt>
                <c:pt idx="15">
                  <c:v>648</c:v>
                </c:pt>
                <c:pt idx="16">
                  <c:v>650</c:v>
                </c:pt>
                <c:pt idx="17">
                  <c:v>630</c:v>
                </c:pt>
                <c:pt idx="18">
                  <c:v>648</c:v>
                </c:pt>
                <c:pt idx="19">
                  <c:v>620</c:v>
                </c:pt>
                <c:pt idx="20">
                  <c:v>590</c:v>
                </c:pt>
                <c:pt idx="21">
                  <c:v>500</c:v>
                </c:pt>
                <c:pt idx="22">
                  <c:v>365</c:v>
                </c:pt>
                <c:pt idx="23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457200"/>
            <a:ext cx="1463040" cy="1463040"/>
          </a:xfrm>
          <a:prstGeom prst="ellipse">
            <a:avLst/>
          </a:prstGeom>
          <a:solidFill>
            <a:srgbClr val="1A6F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731520"/>
            <a:ext cx="877824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0574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</a:rPr>
              <a:t>BRIGHT TV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2860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500" kern="0" dirty="0">
                <a:solidFill>
                  <a:srgbClr val="00B4D8"/>
                </a:solidFill>
              </a:rPr>
              <a:t>CASE STUDY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31520" y="3310128"/>
            <a:ext cx="2377440" cy="36576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" y="3429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8F7"/>
                </a:solidFill>
              </a:rPr>
              <a:t>Presented by  Ethaba Mhlongo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06240" y="10972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Viewership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20624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</a:rPr>
              <a:t>Audience trends  •  </a:t>
            </a:r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Peak times  •  </a:t>
            </a:r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06240" y="3108960"/>
            <a:ext cx="2103120" cy="685800"/>
          </a:xfrm>
          <a:prstGeom prst="rect">
            <a:avLst/>
          </a:prstGeom>
          <a:solidFill>
            <a:srgbClr val="1A6FB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97680" y="31455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9,376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0" y="34747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</a:rPr>
              <a:t>Total Viewers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37960" y="3108960"/>
            <a:ext cx="2103120" cy="685800"/>
          </a:xfrm>
          <a:prstGeom prst="rect">
            <a:avLst/>
          </a:prstGeom>
          <a:solidFill>
            <a:srgbClr val="1A6FB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29400" y="31455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 PM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29400" y="34747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</a:rPr>
              <a:t>Peak Hour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06240" y="3977640"/>
            <a:ext cx="2103120" cy="685800"/>
          </a:xfrm>
          <a:prstGeom prst="rect">
            <a:avLst/>
          </a:prstGeom>
          <a:solidFill>
            <a:srgbClr val="1A6FB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297680" y="4014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Gauteng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97680" y="4343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</a:rPr>
              <a:t>Top Province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537960" y="3977640"/>
            <a:ext cx="2103120" cy="685800"/>
          </a:xfrm>
          <a:prstGeom prst="rect">
            <a:avLst/>
          </a:prstGeom>
          <a:solidFill>
            <a:srgbClr val="1A6FB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29400" y="4014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45%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29400" y="4343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</a:rPr>
              <a:t>Young Adults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</a:rPr>
              <a:t>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097280"/>
            <a:ext cx="8138160" cy="658368"/>
          </a:xfrm>
          <a:prstGeom prst="rect">
            <a:avLst/>
          </a:prstGeom>
          <a:solidFill>
            <a:srgbClr val="0D2B5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097280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0700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89888" y="11612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14447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</a:rPr>
              <a:t>Overview of the TV viewership study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1865376"/>
            <a:ext cx="8138160" cy="65836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865376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975104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89888" y="19293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Systems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22128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</a:rPr>
              <a:t>Tools: Databricks, Excel &amp; Canva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633472"/>
            <a:ext cx="8138160" cy="658368"/>
          </a:xfrm>
          <a:prstGeom prst="rect">
            <a:avLst/>
          </a:prstGeom>
          <a:solidFill>
            <a:srgbClr val="0D2B50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633472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74320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89888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89888" y="29809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</a:rPr>
              <a:t>Channels, demographics, time &amp; region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401568"/>
            <a:ext cx="8138160" cy="65836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401568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51129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89888" y="3465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Recommendations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89888" y="3749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</a:rPr>
              <a:t>Strategic growth opportunities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169664"/>
            <a:ext cx="8138160" cy="658368"/>
          </a:xfrm>
          <a:prstGeom prst="rect">
            <a:avLst/>
          </a:prstGeom>
          <a:solidFill>
            <a:srgbClr val="0D2B50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169664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7939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89888" y="4233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Implementations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89888" y="451713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</a:rPr>
              <a:t>Action plans &amp; execution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this case study is about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5720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3566160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About this study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4206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This case study analyses TV viewership data for Bright TV, focusing on key metrics including audience trends, peak viewing times and demographic segmentation.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The goal is to identify patterns that improve content strategy and overall platform performance.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1097280"/>
            <a:ext cx="1719072" cy="16002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126187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166420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 Slides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330952" y="217627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7"/>
                </a:solidFill>
              </a:rPr>
              <a:t>Full analysis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178040" y="1097280"/>
            <a:ext cx="1719072" cy="1600200"/>
          </a:xfrm>
          <a:prstGeom prst="rect">
            <a:avLst/>
          </a:prstGeom>
          <a:solidFill>
            <a:srgbClr val="1A6FB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26187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66420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9,376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251192" y="217627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7"/>
                </a:solidFill>
              </a:rPr>
              <a:t>Total Viewers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257800" y="2880360"/>
            <a:ext cx="1719072" cy="16002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304495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34472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 PM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5330952" y="395935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7"/>
                </a:solidFill>
              </a:rPr>
              <a:t>Peak Hour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178040" y="2880360"/>
            <a:ext cx="1719072" cy="1600200"/>
          </a:xfrm>
          <a:prstGeom prst="rect">
            <a:avLst/>
          </a:prstGeom>
          <a:solidFill>
            <a:srgbClr val="1A6FB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304495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4472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251192" y="395935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7"/>
                </a:solidFill>
              </a:rPr>
              <a:t>Provinces analysed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Systems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Tools used to collect, process and visualise viewership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The data infrastructure for Bright TV was built to collect, store, process and visualise viewership and user profile data — generating meaningful, actionable insights.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938528"/>
            <a:ext cx="777240" cy="777240"/>
          </a:xfrm>
          <a:prstGeom prst="ellipse">
            <a:avLst/>
          </a:prstGeom>
          <a:solidFill>
            <a:srgbClr val="0C23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084832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346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460"/>
                </a:solidFill>
              </a:rPr>
              <a:t>Databricks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07592" y="3218688"/>
            <a:ext cx="640080" cy="3657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3375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Data lakehouse platform for ingestion &amp; processing of large-scale viewership datasets at speed.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54680" y="173736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069080" y="193852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084832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28346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460"/>
                </a:solidFill>
              </a:rPr>
              <a:t>Excel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142232" y="3218688"/>
            <a:ext cx="640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3"/>
          <p:cNvSpPr/>
          <p:nvPr/>
        </p:nvSpPr>
        <p:spPr>
          <a:xfrm>
            <a:off x="3337560" y="33375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Pivot tables, charts and summaries used to explore &amp; validate data trends across dimensions.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89320" y="173736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03720" y="1938528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084832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28346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460"/>
                </a:solidFill>
              </a:rPr>
              <a:t>Canva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976872" y="3218688"/>
            <a:ext cx="6400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18"/>
          <p:cNvSpPr/>
          <p:nvPr/>
        </p:nvSpPr>
        <p:spPr>
          <a:xfrm>
            <a:off x="6172200" y="33375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Visual design tool used to craft presentation slides and communicate insights clearly.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Most Watched Channels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Analysis — top-performing channels by total viewership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834640" cy="36576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83464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7043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2560320" cy="338328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34086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SuperSport Live Events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715768"/>
            <a:ext cx="2560320" cy="33832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75234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ICC Cricket WC 2011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3127248"/>
            <a:ext cx="2560320" cy="33832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16382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 Channel 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538728"/>
            <a:ext cx="2560320" cy="33832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57530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4.  Trace TV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3950208"/>
            <a:ext cx="2560320" cy="33832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98678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5.  SuperSport Blitz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1480" y="4224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8F7"/>
                </a:solidFill>
              </a:rPr>
              <a:t>Sports content dominated all top 5 positions.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33756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Viewership Per Day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Analysis — engagement patterns across the week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834640" cy="36576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7043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2560320" cy="292608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2331720"/>
            <a:ext cx="234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Sat  —  1,650 viewers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2560320" cy="292608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2679192"/>
            <a:ext cx="234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Fri  —  1,640 viewers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999232"/>
            <a:ext cx="2560320" cy="292608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026664"/>
            <a:ext cx="234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Wed  —  1,540 viewers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346704"/>
            <a:ext cx="2560320" cy="29260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3374136"/>
            <a:ext cx="234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Thu  —  1,470 viewers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3694176"/>
            <a:ext cx="2560320" cy="29260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721608"/>
            <a:ext cx="234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Sun  —  1,400 viewers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041648"/>
            <a:ext cx="2560320" cy="29260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4069080"/>
            <a:ext cx="234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Tue  —  1,330 viewers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4389120"/>
            <a:ext cx="2560320" cy="292608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" y="4416552"/>
            <a:ext cx="234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Mon  —  980 viewers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1480" y="4572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8F7"/>
                </a:solidFill>
              </a:rPr>
              <a:t>Friday to Sunday = peak engagement window.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33756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Viewership by Gender &amp; Race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Analysis — demographic breakdown of the audience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834640" cy="36576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834640" cy="54864"/>
          </a:xfrm>
          <a:prstGeom prst="rect">
            <a:avLst/>
          </a:prstGeom>
          <a:solidFill>
            <a:srgbClr val="E55B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7043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5B4D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2860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Largest segment:
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2,142
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7"/>
                </a:solidFill>
              </a:rPr>
              <a:t>Previously Disadvantaged Males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Smallest segment: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81
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6E8F7"/>
                </a:solidFill>
              </a:rPr>
              <a:t>White Females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33756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Viewership Per 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Analysis — age category distribution of total viewership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834640" cy="36576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7043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2560320" cy="301752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286000"/>
            <a:ext cx="45720" cy="301752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31343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45%  Young Adult (19–30)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642616"/>
            <a:ext cx="2560320" cy="301752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2642616"/>
            <a:ext cx="4572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670048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23%  Adult (31–45)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2560320" cy="301752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2999232"/>
            <a:ext cx="45720" cy="301752"/>
          </a:xfrm>
          <a:prstGeom prst="rect">
            <a:avLst/>
          </a:prstGeom>
          <a:solidFill>
            <a:srgbClr val="E55B4D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02666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18%  Pre-Teen (up to 12)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355848"/>
            <a:ext cx="2560320" cy="301752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3355848"/>
            <a:ext cx="45720" cy="301752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338328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8%  Middle Aged (46–64)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712464"/>
            <a:ext cx="2560320" cy="301752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3712464"/>
            <a:ext cx="45720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373989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4%  Teen (13–18)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069080"/>
            <a:ext cx="2560320" cy="301752"/>
          </a:xfrm>
          <a:prstGeom prst="rect">
            <a:avLst/>
          </a:prstGeom>
          <a:solidFill>
            <a:srgbClr val="0A2040"/>
          </a:solidFill>
          <a:ln/>
        </p:spPr>
      </p:sp>
      <p:sp>
        <p:nvSpPr>
          <p:cNvPr id="25" name="Shape 22"/>
          <p:cNvSpPr/>
          <p:nvPr/>
        </p:nvSpPr>
        <p:spPr>
          <a:xfrm>
            <a:off x="457200" y="4069080"/>
            <a:ext cx="45720" cy="3017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409651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2%  Senior (65+)</a:t>
            </a:r>
            <a:endParaRPr lang="en-US" sz="9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33756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Viewers Per Province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Analysis — geographic distribution across South Africa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834640" cy="36576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83464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7043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2860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Top 3 provinces: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Gauteng  •  Western Cape  •  KZN
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Lowest: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Northern Cape
</a:t>
            </a:r>
            <a:pPr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D6E8F7"/>
                </a:solidFill>
              </a:rPr>
              <a:t>Gauteng alone accounts for ~38% of total viewers.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33756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Watch Time Per Hour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Analysis — viewing activity across 24 hours (00:00–23:59)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834640" cy="36576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7043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2860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Peak hour: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3 PM  —  648 viewers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Prime window: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1 PM – 9 PM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Lowest: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12 AM  —  8 viewers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33756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Factors That Influence Consumption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Summary of key drivers identified through data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152144"/>
            <a:ext cx="566928" cy="566928"/>
          </a:xfrm>
          <a:prstGeom prst="ellipse">
            <a:avLst/>
          </a:prstGeom>
          <a:solidFill>
            <a:srgbClr val="1A6FB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710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88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Time of Day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1554480"/>
            <a:ext cx="1664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Peak: 1PM–9PM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Lowest: 12AM (8 viewers)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987552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152144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710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5928" y="1188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Day of Week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95928" y="1554480"/>
            <a:ext cx="1664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Fri–Sun highest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Mon lowest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25896" y="987552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0488" y="1152144"/>
            <a:ext cx="566928" cy="566928"/>
          </a:xfrm>
          <a:prstGeom prst="ellipse">
            <a:avLst/>
          </a:prstGeom>
          <a:solidFill>
            <a:srgbClr val="E55B4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2710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48856" y="1188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Age Group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848856" y="1554480"/>
            <a:ext cx="1664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Young Adults (19–30)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dominate at 45%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2907792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" y="3072384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19125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10896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Gender &amp; Race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" y="3474720"/>
            <a:ext cx="1664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PD Males lead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at 2,142 viewers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72968" y="2907792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37560" y="3072384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9125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95928" y="310896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Content Type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995928" y="3474720"/>
            <a:ext cx="1664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Sports channels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dominate top 5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25896" y="2907792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90488" y="3072384"/>
            <a:ext cx="566928" cy="566928"/>
          </a:xfrm>
          <a:prstGeom prst="ellipse">
            <a:avLst/>
          </a:prstGeom>
          <a:solidFill>
            <a:srgbClr val="0C234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19125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48856" y="310896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Location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848856" y="3474720"/>
            <a:ext cx="1664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Gauteng highest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N. Cape lowest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Growth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Strategic opportunities to improve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54864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1207008"/>
            <a:ext cx="502920" cy="502920"/>
          </a:xfrm>
          <a:prstGeom prst="ellipse">
            <a:avLst/>
          </a:prstGeom>
          <a:solidFill>
            <a:srgbClr val="1A6F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1673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1704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Optimise Content Scheduling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1664208"/>
            <a:ext cx="38221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Peak hours identified as 1PM–9PM. Premium content must be placed in these prime slots to maximise viewership and ad revenue.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4873752" y="120700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167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13832" y="11704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Target Young Adults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73752" y="1664208"/>
            <a:ext cx="38221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Young Adults (19–30) are the biggest audience. Introduce trending content — reality TV, sports and entertainment — tailored to this segment.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971800"/>
            <a:ext cx="4114800" cy="54864"/>
          </a:xfrm>
          <a:prstGeom prst="rect">
            <a:avLst/>
          </a:prstGeom>
          <a:solidFill>
            <a:srgbClr val="E55B4D"/>
          </a:solidFill>
          <a:ln/>
        </p:spPr>
      </p:sp>
      <p:sp>
        <p:nvSpPr>
          <p:cNvPr id="19" name="Shape 15"/>
          <p:cNvSpPr/>
          <p:nvPr/>
        </p:nvSpPr>
        <p:spPr>
          <a:xfrm>
            <a:off x="484632" y="3172968"/>
            <a:ext cx="502920" cy="502920"/>
          </a:xfrm>
          <a:prstGeom prst="ellipse">
            <a:avLst/>
          </a:prstGeom>
          <a:solidFill>
            <a:srgbClr val="E55B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28269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24712" y="3136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Boost Low Consumption Days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4632" y="3630168"/>
            <a:ext cx="38221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Add Midweek Exclusive shows, staggered episode releases on Mon–Thu and live shows to drive weekday engagement.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297180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0"/>
          <p:cNvSpPr/>
          <p:nvPr/>
        </p:nvSpPr>
        <p:spPr>
          <a:xfrm>
            <a:off x="4873752" y="317296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28269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13832" y="3136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Expand Into Lower Regions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73752" y="3630168"/>
            <a:ext cx="38221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Northern Cape is underperforming. Localise content using regional language, stories and targeted promotions to grow this market.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Five action plans to execute the recommendations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987552"/>
            <a:ext cx="1600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87552"/>
            <a:ext cx="1600200" cy="54864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097280"/>
            <a:ext cx="566928" cy="566928"/>
          </a:xfrm>
          <a:prstGeom prst="ellipse">
            <a:avLst/>
          </a:prstGeom>
          <a:solidFill>
            <a:srgbClr val="1A6F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21615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Scheduling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Optimisation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7512" y="2450592"/>
            <a:ext cx="594360" cy="36576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2560320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Analyse hourly data weekly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Move top shows to 1PM–9PM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Prime Time Strategy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938528" y="987552"/>
            <a:ext cx="1600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38528" y="987552"/>
            <a:ext cx="1600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2450592" y="10972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21615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29968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Midweek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Engagement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441448" y="2450592"/>
            <a:ext cx="5943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4"/>
          <p:cNvSpPr/>
          <p:nvPr/>
        </p:nvSpPr>
        <p:spPr>
          <a:xfrm>
            <a:off x="2048256" y="2560320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Launch Midweek Specials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Discounts Mon–Thu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Push notifications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712464" y="987552"/>
            <a:ext cx="1600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12464" y="987552"/>
            <a:ext cx="1600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4224528" y="109728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21615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03904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Regional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Growth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215384" y="2450592"/>
            <a:ext cx="5943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0"/>
          <p:cNvSpPr/>
          <p:nvPr/>
        </p:nvSpPr>
        <p:spPr>
          <a:xfrm>
            <a:off x="3822192" y="2560320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Targeted ads in low provinces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Local influencer partnerships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Trial subscriptions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486400" y="987552"/>
            <a:ext cx="1600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0" y="987552"/>
            <a:ext cx="1600200" cy="54864"/>
          </a:xfrm>
          <a:prstGeom prst="rect">
            <a:avLst/>
          </a:prstGeom>
          <a:solidFill>
            <a:srgbClr val="E55B4D"/>
          </a:solidFill>
          <a:ln/>
        </p:spPr>
      </p:sp>
      <p:sp>
        <p:nvSpPr>
          <p:cNvPr id="28" name="Shape 23"/>
          <p:cNvSpPr/>
          <p:nvPr/>
        </p:nvSpPr>
        <p:spPr>
          <a:xfrm>
            <a:off x="5998464" y="1097280"/>
            <a:ext cx="566928" cy="566928"/>
          </a:xfrm>
          <a:prstGeom prst="ellipse">
            <a:avLst/>
          </a:prstGeom>
          <a:solidFill>
            <a:srgbClr val="E55B4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216152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77840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Content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Strategy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989320" y="2450592"/>
            <a:ext cx="594360" cy="36576"/>
          </a:xfrm>
          <a:prstGeom prst="rect">
            <a:avLst/>
          </a:prstGeom>
          <a:solidFill>
            <a:srgbClr val="E55B4D"/>
          </a:solidFill>
          <a:ln/>
        </p:spPr>
      </p:sp>
      <p:sp>
        <p:nvSpPr>
          <p:cNvPr id="32" name="Text 26"/>
          <p:cNvSpPr/>
          <p:nvPr/>
        </p:nvSpPr>
        <p:spPr>
          <a:xfrm>
            <a:off x="5596128" y="2560320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Invest in sports content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Youth-focused programming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Female-focused shows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260336" y="987552"/>
            <a:ext cx="1600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60336" y="987552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29"/>
          <p:cNvSpPr/>
          <p:nvPr/>
        </p:nvSpPr>
        <p:spPr>
          <a:xfrm>
            <a:off x="7772400" y="109728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216152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351776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Subscription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460"/>
                </a:solidFill>
              </a:rPr>
              <a:t>Growth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7763256" y="2450592"/>
            <a:ext cx="5943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2"/>
          <p:cNvSpPr/>
          <p:nvPr/>
        </p:nvSpPr>
        <p:spPr>
          <a:xfrm>
            <a:off x="7370064" y="2560320"/>
            <a:ext cx="13898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Free trials introduction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Bundled packages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Sports + entertainment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A6F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029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91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3474720" y="2788920"/>
            <a:ext cx="21945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8F7"/>
                </a:solidFill>
              </a:rPr>
              <a:t>Presented by  Ethaba Mhlongo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Bright TV Case Study  |  TV Viewership Data Analysis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1560" y="3429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9,376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51560" y="38221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</a:rPr>
              <a:t>Total Viewers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90088" y="3429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45%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990088" y="38221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</a:rPr>
              <a:t>Young Adults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28616" y="3429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3 PM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928616" y="38221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</a:rPr>
              <a:t>Peak Hour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67144" y="3429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Gauteng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867144" y="38221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</a:rPr>
              <a:t>Top Province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Case Study</dc:title>
  <dc:subject>PptxGenJS Presentation</dc:subject>
  <dc:creator>Ethaba Mhlongo</dc:creator>
  <cp:lastModifiedBy>Ethaba Mhlongo</cp:lastModifiedBy>
  <cp:revision>1</cp:revision>
  <dcterms:created xsi:type="dcterms:W3CDTF">2026-04-18T08:41:11Z</dcterms:created>
  <dcterms:modified xsi:type="dcterms:W3CDTF">2026-04-18T08:41:11Z</dcterms:modified>
</cp:coreProperties>
</file>