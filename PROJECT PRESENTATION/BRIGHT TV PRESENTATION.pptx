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Sheet1!$A$2:$A$93</c:f>
              <c:multiLvlStrCache>
                <c:ptCount val="92"/>
                <c:lvl>
                  <c:pt idx="0">
                    <c:v>1 Jan</c:v>
                  </c:pt>
                  <c:pt idx="1">
                    <c:v>2 Jan</c:v>
                  </c:pt>
                  <c:pt idx="2">
                    <c:v>3 Jan</c:v>
                  </c:pt>
                  <c:pt idx="3">
                    <c:v>4 Jan</c:v>
                  </c:pt>
                  <c:pt idx="4">
                    <c:v>5 Jan</c:v>
                  </c:pt>
                  <c:pt idx="5">
                    <c:v>6 Jan</c:v>
                  </c:pt>
                  <c:pt idx="6">
                    <c:v>7 Jan</c:v>
                  </c:pt>
                  <c:pt idx="7">
                    <c:v>8 Jan</c:v>
                  </c:pt>
                  <c:pt idx="8">
                    <c:v>9 Jan</c:v>
                  </c:pt>
                  <c:pt idx="9">
                    <c:v>10 Jan</c:v>
                  </c:pt>
                  <c:pt idx="10">
                    <c:v>11 Jan</c:v>
                  </c:pt>
                  <c:pt idx="11">
                    <c:v>12 Jan</c:v>
                  </c:pt>
                  <c:pt idx="12">
                    <c:v>13 Jan</c:v>
                  </c:pt>
                  <c:pt idx="13">
                    <c:v>14 Jan</c:v>
                  </c:pt>
                  <c:pt idx="14">
                    <c:v>15 Jan</c:v>
                  </c:pt>
                  <c:pt idx="15">
                    <c:v>16 Jan</c:v>
                  </c:pt>
                  <c:pt idx="16">
                    <c:v>17 Jan</c:v>
                  </c:pt>
                  <c:pt idx="17">
                    <c:v>18 Jan</c:v>
                  </c:pt>
                  <c:pt idx="18">
                    <c:v>19 Jan</c:v>
                  </c:pt>
                  <c:pt idx="19">
                    <c:v>20 Jan</c:v>
                  </c:pt>
                  <c:pt idx="20">
                    <c:v>21 Jan</c:v>
                  </c:pt>
                  <c:pt idx="21">
                    <c:v>22 Jan</c:v>
                  </c:pt>
                  <c:pt idx="22">
                    <c:v>23 Jan</c:v>
                  </c:pt>
                  <c:pt idx="23">
                    <c:v>24 Jan</c:v>
                  </c:pt>
                  <c:pt idx="24">
                    <c:v>25 Jan</c:v>
                  </c:pt>
                  <c:pt idx="25">
                    <c:v>26 Jan</c:v>
                  </c:pt>
                  <c:pt idx="26">
                    <c:v>27 Jan</c:v>
                  </c:pt>
                  <c:pt idx="27">
                    <c:v>28 Jan</c:v>
                  </c:pt>
                  <c:pt idx="28">
                    <c:v>29 Jan</c:v>
                  </c:pt>
                  <c:pt idx="29">
                    <c:v>30 Jan</c:v>
                  </c:pt>
                  <c:pt idx="30">
                    <c:v>31 Jan</c:v>
                  </c:pt>
                  <c:pt idx="31">
                    <c:v>1 Feb</c:v>
                  </c:pt>
                  <c:pt idx="32">
                    <c:v>2 Feb</c:v>
                  </c:pt>
                  <c:pt idx="33">
                    <c:v>3 Feb</c:v>
                  </c:pt>
                  <c:pt idx="34">
                    <c:v>4 Feb</c:v>
                  </c:pt>
                  <c:pt idx="35">
                    <c:v>5 Feb</c:v>
                  </c:pt>
                  <c:pt idx="36">
                    <c:v>6 Feb</c:v>
                  </c:pt>
                  <c:pt idx="37">
                    <c:v>7 Feb</c:v>
                  </c:pt>
                  <c:pt idx="38">
                    <c:v>8 Feb</c:v>
                  </c:pt>
                  <c:pt idx="39">
                    <c:v>9 Feb</c:v>
                  </c:pt>
                  <c:pt idx="40">
                    <c:v>10 Feb</c:v>
                  </c:pt>
                  <c:pt idx="41">
                    <c:v>11 Feb</c:v>
                  </c:pt>
                  <c:pt idx="42">
                    <c:v>12 Feb</c:v>
                  </c:pt>
                  <c:pt idx="43">
                    <c:v>13 Feb</c:v>
                  </c:pt>
                  <c:pt idx="44">
                    <c:v>14 Feb</c:v>
                  </c:pt>
                  <c:pt idx="45">
                    <c:v>15 Feb</c:v>
                  </c:pt>
                  <c:pt idx="46">
                    <c:v>16 Feb</c:v>
                  </c:pt>
                  <c:pt idx="47">
                    <c:v>17 Feb</c:v>
                  </c:pt>
                  <c:pt idx="48">
                    <c:v>18 Feb</c:v>
                  </c:pt>
                  <c:pt idx="49">
                    <c:v>19 Feb</c:v>
                  </c:pt>
                  <c:pt idx="50">
                    <c:v>20 Feb</c:v>
                  </c:pt>
                  <c:pt idx="51">
                    <c:v>21 Feb</c:v>
                  </c:pt>
                  <c:pt idx="52">
                    <c:v>22 Feb</c:v>
                  </c:pt>
                  <c:pt idx="53">
                    <c:v>23 Feb</c:v>
                  </c:pt>
                  <c:pt idx="54">
                    <c:v>24 Feb</c:v>
                  </c:pt>
                  <c:pt idx="55">
                    <c:v>25 Feb</c:v>
                  </c:pt>
                  <c:pt idx="56">
                    <c:v>26 Feb</c:v>
                  </c:pt>
                  <c:pt idx="57">
                    <c:v>27 Feb</c:v>
                  </c:pt>
                  <c:pt idx="58">
                    <c:v>28 Feb</c:v>
                  </c:pt>
                  <c:pt idx="59">
                    <c:v>29 Feb</c:v>
                  </c:pt>
                  <c:pt idx="60">
                    <c:v>1 Mar</c:v>
                  </c:pt>
                  <c:pt idx="61">
                    <c:v>2 Mar</c:v>
                  </c:pt>
                  <c:pt idx="62">
                    <c:v>3 Mar</c:v>
                  </c:pt>
                  <c:pt idx="63">
                    <c:v>4 Mar</c:v>
                  </c:pt>
                  <c:pt idx="64">
                    <c:v>5 Mar</c:v>
                  </c:pt>
                  <c:pt idx="65">
                    <c:v>6 Mar</c:v>
                  </c:pt>
                  <c:pt idx="66">
                    <c:v>7 Mar</c:v>
                  </c:pt>
                  <c:pt idx="67">
                    <c:v>8 Mar</c:v>
                  </c:pt>
                  <c:pt idx="68">
                    <c:v>9 Mar</c:v>
                  </c:pt>
                  <c:pt idx="69">
                    <c:v>10 Mar</c:v>
                  </c:pt>
                  <c:pt idx="70">
                    <c:v>11 Mar</c:v>
                  </c:pt>
                  <c:pt idx="71">
                    <c:v>12 Mar</c:v>
                  </c:pt>
                  <c:pt idx="72">
                    <c:v>13 Mar</c:v>
                  </c:pt>
                  <c:pt idx="73">
                    <c:v>14 Mar</c:v>
                  </c:pt>
                  <c:pt idx="74">
                    <c:v>15 Mar</c:v>
                  </c:pt>
                  <c:pt idx="75">
                    <c:v>16 Mar</c:v>
                  </c:pt>
                  <c:pt idx="76">
                    <c:v>17 Mar</c:v>
                  </c:pt>
                  <c:pt idx="77">
                    <c:v>18 Mar</c:v>
                  </c:pt>
                  <c:pt idx="78">
                    <c:v>19 Mar</c:v>
                  </c:pt>
                  <c:pt idx="79">
                    <c:v>20 Mar</c:v>
                  </c:pt>
                  <c:pt idx="80">
                    <c:v>21 Mar</c:v>
                  </c:pt>
                  <c:pt idx="81">
                    <c:v>22 Mar</c:v>
                  </c:pt>
                  <c:pt idx="82">
                    <c:v>23 Mar</c:v>
                  </c:pt>
                  <c:pt idx="83">
                    <c:v>24 Mar</c:v>
                  </c:pt>
                  <c:pt idx="84">
                    <c:v>25 Mar</c:v>
                  </c:pt>
                  <c:pt idx="85">
                    <c:v>26 Mar</c:v>
                  </c:pt>
                  <c:pt idx="86">
                    <c:v>27 Mar</c:v>
                  </c:pt>
                  <c:pt idx="87">
                    <c:v>28 Mar</c:v>
                  </c:pt>
                  <c:pt idx="88">
                    <c:v>29 Mar</c:v>
                  </c:pt>
                  <c:pt idx="89">
                    <c:v>30 Mar</c:v>
                  </c:pt>
                  <c:pt idx="90">
                    <c:v>31 Mar</c:v>
                  </c:pt>
                  <c:pt idx="91">
                    <c:v>1 Apr</c:v>
                  </c:pt>
                </c:lvl>
              </c:multiLvlStrCache>
            </c:multiLvlStrRef>
          </c:cat>
          <c:val>
            <c:numRef>
              <c:f>Sheet1!$B$2:$B$93</c:f>
              <c:numCache>
                <c:formatCode>General</c:formatCode>
                <c:ptCount val="92"/>
                <c:pt idx="0">
                  <c:v>5.13</c:v>
                </c:pt>
                <c:pt idx="1">
                  <c:v>10.86</c:v>
                </c:pt>
                <c:pt idx="2">
                  <c:v>6.1</c:v>
                </c:pt>
                <c:pt idx="3">
                  <c:v>8.56</c:v>
                </c:pt>
                <c:pt idx="4">
                  <c:v>15.57</c:v>
                </c:pt>
                <c:pt idx="5">
                  <c:v>12.23</c:v>
                </c:pt>
                <c:pt idx="6">
                  <c:v>8.3</c:v>
                </c:pt>
                <c:pt idx="7">
                  <c:v>10.74</c:v>
                </c:pt>
                <c:pt idx="8">
                  <c:v>15.45</c:v>
                </c:pt>
                <c:pt idx="9">
                  <c:v>6.77</c:v>
                </c:pt>
                <c:pt idx="10">
                  <c:v>11.24</c:v>
                </c:pt>
                <c:pt idx="11">
                  <c:v>5.49</c:v>
                </c:pt>
                <c:pt idx="12">
                  <c:v>9.87</c:v>
                </c:pt>
                <c:pt idx="13">
                  <c:v>14.18</c:v>
                </c:pt>
                <c:pt idx="14">
                  <c:v>5.68</c:v>
                </c:pt>
                <c:pt idx="15">
                  <c:v>8.83</c:v>
                </c:pt>
                <c:pt idx="16">
                  <c:v>5.61</c:v>
                </c:pt>
                <c:pt idx="17">
                  <c:v>8.02</c:v>
                </c:pt>
                <c:pt idx="18">
                  <c:v>5.47</c:v>
                </c:pt>
                <c:pt idx="19">
                  <c:v>8.23</c:v>
                </c:pt>
                <c:pt idx="20">
                  <c:v>20.38</c:v>
                </c:pt>
                <c:pt idx="21">
                  <c:v>10.87</c:v>
                </c:pt>
                <c:pt idx="22">
                  <c:v>15.44</c:v>
                </c:pt>
                <c:pt idx="23">
                  <c:v>9.74</c:v>
                </c:pt>
                <c:pt idx="24">
                  <c:v>6.24</c:v>
                </c:pt>
                <c:pt idx="25">
                  <c:v>5.89</c:v>
                </c:pt>
                <c:pt idx="26">
                  <c:v>4.27</c:v>
                </c:pt>
                <c:pt idx="27">
                  <c:v>6.54</c:v>
                </c:pt>
                <c:pt idx="28">
                  <c:v>8.87</c:v>
                </c:pt>
                <c:pt idx="29">
                  <c:v>13</c:v>
                </c:pt>
                <c:pt idx="30">
                  <c:v>7.64</c:v>
                </c:pt>
                <c:pt idx="31">
                  <c:v>11.58</c:v>
                </c:pt>
                <c:pt idx="32">
                  <c:v>9.87</c:v>
                </c:pt>
                <c:pt idx="33">
                  <c:v>15.54</c:v>
                </c:pt>
                <c:pt idx="34">
                  <c:v>7.58</c:v>
                </c:pt>
                <c:pt idx="35">
                  <c:v>12.76</c:v>
                </c:pt>
                <c:pt idx="36">
                  <c:v>14.41</c:v>
                </c:pt>
                <c:pt idx="37">
                  <c:v>7.42</c:v>
                </c:pt>
                <c:pt idx="38">
                  <c:v>3.88</c:v>
                </c:pt>
                <c:pt idx="39">
                  <c:v>12.44</c:v>
                </c:pt>
                <c:pt idx="40">
                  <c:v>10.77</c:v>
                </c:pt>
                <c:pt idx="41">
                  <c:v>11.9</c:v>
                </c:pt>
                <c:pt idx="42">
                  <c:v>11.41</c:v>
                </c:pt>
                <c:pt idx="43">
                  <c:v>10.1</c:v>
                </c:pt>
                <c:pt idx="44">
                  <c:v>12.36</c:v>
                </c:pt>
                <c:pt idx="45">
                  <c:v>8.03</c:v>
                </c:pt>
                <c:pt idx="46">
                  <c:v>12.58</c:v>
                </c:pt>
                <c:pt idx="47">
                  <c:v>4.77</c:v>
                </c:pt>
                <c:pt idx="48">
                  <c:v>19.94</c:v>
                </c:pt>
                <c:pt idx="49">
                  <c:v>47.08</c:v>
                </c:pt>
                <c:pt idx="50">
                  <c:v>10.67</c:v>
                </c:pt>
                <c:pt idx="51">
                  <c:v>18.21</c:v>
                </c:pt>
                <c:pt idx="52">
                  <c:v>13.99</c:v>
                </c:pt>
                <c:pt idx="53">
                  <c:v>19.26</c:v>
                </c:pt>
                <c:pt idx="54">
                  <c:v>10.41</c:v>
                </c:pt>
                <c:pt idx="55">
                  <c:v>16.98</c:v>
                </c:pt>
                <c:pt idx="56">
                  <c:v>21.77</c:v>
                </c:pt>
                <c:pt idx="57">
                  <c:v>23.35</c:v>
                </c:pt>
                <c:pt idx="58">
                  <c:v>12.83</c:v>
                </c:pt>
                <c:pt idx="59">
                  <c:v>0.39</c:v>
                </c:pt>
                <c:pt idx="60">
                  <c:v>11.98</c:v>
                </c:pt>
                <c:pt idx="61">
                  <c:v>22.67</c:v>
                </c:pt>
                <c:pt idx="62">
                  <c:v>23.41</c:v>
                </c:pt>
                <c:pt idx="63">
                  <c:v>26.79</c:v>
                </c:pt>
                <c:pt idx="64">
                  <c:v>35.71</c:v>
                </c:pt>
                <c:pt idx="65">
                  <c:v>28.57</c:v>
                </c:pt>
                <c:pt idx="66">
                  <c:v>17.02</c:v>
                </c:pt>
                <c:pt idx="67">
                  <c:v>24.25</c:v>
                </c:pt>
                <c:pt idx="68">
                  <c:v>19.52</c:v>
                </c:pt>
                <c:pt idx="69">
                  <c:v>11.97</c:v>
                </c:pt>
                <c:pt idx="70">
                  <c:v>26.75</c:v>
                </c:pt>
                <c:pt idx="71">
                  <c:v>58.1</c:v>
                </c:pt>
                <c:pt idx="72">
                  <c:v>30.31</c:v>
                </c:pt>
                <c:pt idx="73">
                  <c:v>8.15</c:v>
                </c:pt>
                <c:pt idx="74">
                  <c:v>24.9</c:v>
                </c:pt>
                <c:pt idx="75">
                  <c:v>8.41</c:v>
                </c:pt>
                <c:pt idx="76">
                  <c:v>9.65</c:v>
                </c:pt>
                <c:pt idx="77">
                  <c:v>24.65</c:v>
                </c:pt>
                <c:pt idx="78">
                  <c:v>35.65</c:v>
                </c:pt>
                <c:pt idx="79">
                  <c:v>30.51</c:v>
                </c:pt>
                <c:pt idx="80">
                  <c:v>8.73</c:v>
                </c:pt>
                <c:pt idx="81">
                  <c:v>10.96</c:v>
                </c:pt>
                <c:pt idx="82">
                  <c:v>20.91</c:v>
                </c:pt>
                <c:pt idx="83">
                  <c:v>67.08</c:v>
                </c:pt>
                <c:pt idx="84">
                  <c:v>38.61</c:v>
                </c:pt>
                <c:pt idx="85">
                  <c:v>44.48</c:v>
                </c:pt>
                <c:pt idx="86">
                  <c:v>18.82</c:v>
                </c:pt>
                <c:pt idx="87">
                  <c:v>9.08</c:v>
                </c:pt>
                <c:pt idx="88">
                  <c:v>40.24</c:v>
                </c:pt>
                <c:pt idx="89">
                  <c:v>86.54</c:v>
                </c:pt>
                <c:pt idx="90">
                  <c:v>14.38</c:v>
                </c:pt>
                <c:pt idx="91">
                  <c:v>0.16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Date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114.91</c:v>
                </c:pt>
                <c:pt idx="1">
                  <c:v>198.89</c:v>
                </c:pt>
                <c:pt idx="2">
                  <c:v>234.13</c:v>
                </c:pt>
                <c:pt idx="3">
                  <c:v>232.27</c:v>
                </c:pt>
                <c:pt idx="4">
                  <c:v>251.27</c:v>
                </c:pt>
                <c:pt idx="5">
                  <c:v>296.03</c:v>
                </c:pt>
                <c:pt idx="6">
                  <c:v>194.89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Day of Week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1031.47</c:v>
                </c:pt>
                <c:pt idx="1">
                  <c:v>490.92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Day Type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E! Entertainment</c:v>
                  </c:pt>
                  <c:pt idx="1">
                    <c:v>Africa Magic</c:v>
                  </c:pt>
                  <c:pt idx="2">
                    <c:v>CNN</c:v>
                  </c:pt>
                  <c:pt idx="3">
                    <c:v>Cartoon Network</c:v>
                  </c:pt>
                  <c:pt idx="4">
                    <c:v>Boomerang</c:v>
                  </c:pt>
                  <c:pt idx="5">
                    <c:v>SuperSport Blitz</c:v>
                  </c:pt>
                  <c:pt idx="6">
                    <c:v>Trace TV</c:v>
                  </c:pt>
                  <c:pt idx="7">
                    <c:v>Channel O</c:v>
                  </c:pt>
                  <c:pt idx="8">
                    <c:v>SuperSport Live Events</c:v>
                  </c:pt>
                  <c:pt idx="9">
                    <c:v>ICC Cricket World Cup 2011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36.98</c:v>
                </c:pt>
                <c:pt idx="1">
                  <c:v>48.77</c:v>
                </c:pt>
                <c:pt idx="2">
                  <c:v>67.78</c:v>
                </c:pt>
                <c:pt idx="3">
                  <c:v>70.25</c:v>
                </c:pt>
                <c:pt idx="4">
                  <c:v>73.26</c:v>
                </c:pt>
                <c:pt idx="5">
                  <c:v>90.68</c:v>
                </c:pt>
                <c:pt idx="6">
                  <c:v>191.92</c:v>
                </c:pt>
                <c:pt idx="7">
                  <c:v>192.1</c:v>
                </c:pt>
                <c:pt idx="8">
                  <c:v>313.54</c:v>
                </c:pt>
                <c:pt idx="9">
                  <c:v>412.13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Channel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Early Morning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Evening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86.62</c:v>
                </c:pt>
                <c:pt idx="1">
                  <c:v>321.34</c:v>
                </c:pt>
                <c:pt idx="2">
                  <c:v>673.91</c:v>
                </c:pt>
                <c:pt idx="3">
                  <c:v>440.52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Time of Day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Northern Cape</c:v>
                  </c:pt>
                  <c:pt idx="1">
                    <c:v>Unknown</c:v>
                  </c:pt>
                  <c:pt idx="2">
                    <c:v>North West</c:v>
                  </c:pt>
                  <c:pt idx="3">
                    <c:v>Free State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Mpumalanga</c:v>
                  </c:pt>
                  <c:pt idx="7">
                    <c:v>Kwazulu Natal</c:v>
                  </c:pt>
                  <c:pt idx="8">
                    <c:v>Western Cape</c:v>
                  </c:pt>
                  <c:pt idx="9">
                    <c:v>Gauteng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27.67</c:v>
                </c:pt>
                <c:pt idx="1">
                  <c:v>36.25</c:v>
                </c:pt>
                <c:pt idx="2">
                  <c:v>43.49</c:v>
                </c:pt>
                <c:pt idx="3">
                  <c:v>52.4</c:v>
                </c:pt>
                <c:pt idx="4">
                  <c:v>104.66</c:v>
                </c:pt>
                <c:pt idx="5">
                  <c:v>115.07</c:v>
                </c:pt>
                <c:pt idx="6">
                  <c:v>130.71</c:v>
                </c:pt>
                <c:pt idx="7">
                  <c:v>158.22</c:v>
                </c:pt>
                <c:pt idx="8">
                  <c:v>300.33</c:v>
                </c:pt>
                <c:pt idx="9">
                  <c:v>553.6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Province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0–17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55+</c:v>
                  </c:pt>
                  <c:pt idx="6">
                    <c:v>Unknown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38.06</c:v>
                </c:pt>
                <c:pt idx="1">
                  <c:v>187.28</c:v>
                </c:pt>
                <c:pt idx="2">
                  <c:v>664.38</c:v>
                </c:pt>
                <c:pt idx="3">
                  <c:v>403.95</c:v>
                </c:pt>
                <c:pt idx="4">
                  <c:v>161.55</c:v>
                </c:pt>
                <c:pt idx="5">
                  <c:v>30.93</c:v>
                </c:pt>
                <c:pt idx="6">
                  <c:v>36.24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Age Group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200" b="0" i="0" u="none" strike="noStrike">
                    <a:solidFill>
                      <a:srgbClr val="5A6B7B"/>
                    </a:solidFill>
                    <a:latin typeface="Calibri"/>
                  </a:rPr>
                  <a:t>Total Watch Time (hours)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ln w="254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Sheet1!$A$2:$A$93</c:f>
              <c:multiLvlStrCache>
                <c:ptCount val="92"/>
                <c:lvl>
                  <c:pt idx="0">
                    <c:v>1 Jan</c:v>
                  </c:pt>
                  <c:pt idx="1">
                    <c:v>2 Jan</c:v>
                  </c:pt>
                  <c:pt idx="2">
                    <c:v>3 Jan</c:v>
                  </c:pt>
                  <c:pt idx="3">
                    <c:v>4 Jan</c:v>
                  </c:pt>
                  <c:pt idx="4">
                    <c:v>5 Jan</c:v>
                  </c:pt>
                  <c:pt idx="5">
                    <c:v>6 Jan</c:v>
                  </c:pt>
                  <c:pt idx="6">
                    <c:v>7 Jan</c:v>
                  </c:pt>
                  <c:pt idx="7">
                    <c:v>8 Jan</c:v>
                  </c:pt>
                  <c:pt idx="8">
                    <c:v>9 Jan</c:v>
                  </c:pt>
                  <c:pt idx="9">
                    <c:v>10 Jan</c:v>
                  </c:pt>
                  <c:pt idx="10">
                    <c:v>11 Jan</c:v>
                  </c:pt>
                  <c:pt idx="11">
                    <c:v>12 Jan</c:v>
                  </c:pt>
                  <c:pt idx="12">
                    <c:v>13 Jan</c:v>
                  </c:pt>
                  <c:pt idx="13">
                    <c:v>14 Jan</c:v>
                  </c:pt>
                  <c:pt idx="14">
                    <c:v>15 Jan</c:v>
                  </c:pt>
                  <c:pt idx="15">
                    <c:v>16 Jan</c:v>
                  </c:pt>
                  <c:pt idx="16">
                    <c:v>17 Jan</c:v>
                  </c:pt>
                  <c:pt idx="17">
                    <c:v>18 Jan</c:v>
                  </c:pt>
                  <c:pt idx="18">
                    <c:v>19 Jan</c:v>
                  </c:pt>
                  <c:pt idx="19">
                    <c:v>20 Jan</c:v>
                  </c:pt>
                  <c:pt idx="20">
                    <c:v>21 Jan</c:v>
                  </c:pt>
                  <c:pt idx="21">
                    <c:v>22 Jan</c:v>
                  </c:pt>
                  <c:pt idx="22">
                    <c:v>23 Jan</c:v>
                  </c:pt>
                  <c:pt idx="23">
                    <c:v>24 Jan</c:v>
                  </c:pt>
                  <c:pt idx="24">
                    <c:v>25 Jan</c:v>
                  </c:pt>
                  <c:pt idx="25">
                    <c:v>26 Jan</c:v>
                  </c:pt>
                  <c:pt idx="26">
                    <c:v>27 Jan</c:v>
                  </c:pt>
                  <c:pt idx="27">
                    <c:v>28 Jan</c:v>
                  </c:pt>
                  <c:pt idx="28">
                    <c:v>29 Jan</c:v>
                  </c:pt>
                  <c:pt idx="29">
                    <c:v>30 Jan</c:v>
                  </c:pt>
                  <c:pt idx="30">
                    <c:v>31 Jan</c:v>
                  </c:pt>
                  <c:pt idx="31">
                    <c:v>1 Feb</c:v>
                  </c:pt>
                  <c:pt idx="32">
                    <c:v>2 Feb</c:v>
                  </c:pt>
                  <c:pt idx="33">
                    <c:v>3 Feb</c:v>
                  </c:pt>
                  <c:pt idx="34">
                    <c:v>4 Feb</c:v>
                  </c:pt>
                  <c:pt idx="35">
                    <c:v>5 Feb</c:v>
                  </c:pt>
                  <c:pt idx="36">
                    <c:v>6 Feb</c:v>
                  </c:pt>
                  <c:pt idx="37">
                    <c:v>7 Feb</c:v>
                  </c:pt>
                  <c:pt idx="38">
                    <c:v>8 Feb</c:v>
                  </c:pt>
                  <c:pt idx="39">
                    <c:v>9 Feb</c:v>
                  </c:pt>
                  <c:pt idx="40">
                    <c:v>10 Feb</c:v>
                  </c:pt>
                  <c:pt idx="41">
                    <c:v>11 Feb</c:v>
                  </c:pt>
                  <c:pt idx="42">
                    <c:v>12 Feb</c:v>
                  </c:pt>
                  <c:pt idx="43">
                    <c:v>13 Feb</c:v>
                  </c:pt>
                  <c:pt idx="44">
                    <c:v>14 Feb</c:v>
                  </c:pt>
                  <c:pt idx="45">
                    <c:v>15 Feb</c:v>
                  </c:pt>
                  <c:pt idx="46">
                    <c:v>16 Feb</c:v>
                  </c:pt>
                  <c:pt idx="47">
                    <c:v>17 Feb</c:v>
                  </c:pt>
                  <c:pt idx="48">
                    <c:v>18 Feb</c:v>
                  </c:pt>
                  <c:pt idx="49">
                    <c:v>19 Feb</c:v>
                  </c:pt>
                  <c:pt idx="50">
                    <c:v>20 Feb</c:v>
                  </c:pt>
                  <c:pt idx="51">
                    <c:v>21 Feb</c:v>
                  </c:pt>
                  <c:pt idx="52">
                    <c:v>22 Feb</c:v>
                  </c:pt>
                  <c:pt idx="53">
                    <c:v>23 Feb</c:v>
                  </c:pt>
                  <c:pt idx="54">
                    <c:v>24 Feb</c:v>
                  </c:pt>
                  <c:pt idx="55">
                    <c:v>25 Feb</c:v>
                  </c:pt>
                  <c:pt idx="56">
                    <c:v>26 Feb</c:v>
                  </c:pt>
                  <c:pt idx="57">
                    <c:v>27 Feb</c:v>
                  </c:pt>
                  <c:pt idx="58">
                    <c:v>28 Feb</c:v>
                  </c:pt>
                  <c:pt idx="59">
                    <c:v>29 Feb</c:v>
                  </c:pt>
                  <c:pt idx="60">
                    <c:v>1 Mar</c:v>
                  </c:pt>
                  <c:pt idx="61">
                    <c:v>2 Mar</c:v>
                  </c:pt>
                  <c:pt idx="62">
                    <c:v>3 Mar</c:v>
                  </c:pt>
                  <c:pt idx="63">
                    <c:v>4 Mar</c:v>
                  </c:pt>
                  <c:pt idx="64">
                    <c:v>5 Mar</c:v>
                  </c:pt>
                  <c:pt idx="65">
                    <c:v>6 Mar</c:v>
                  </c:pt>
                  <c:pt idx="66">
                    <c:v>7 Mar</c:v>
                  </c:pt>
                  <c:pt idx="67">
                    <c:v>8 Mar</c:v>
                  </c:pt>
                  <c:pt idx="68">
                    <c:v>9 Mar</c:v>
                  </c:pt>
                  <c:pt idx="69">
                    <c:v>10 Mar</c:v>
                  </c:pt>
                  <c:pt idx="70">
                    <c:v>11 Mar</c:v>
                  </c:pt>
                  <c:pt idx="71">
                    <c:v>12 Mar</c:v>
                  </c:pt>
                  <c:pt idx="72">
                    <c:v>13 Mar</c:v>
                  </c:pt>
                  <c:pt idx="73">
                    <c:v>14 Mar</c:v>
                  </c:pt>
                  <c:pt idx="74">
                    <c:v>15 Mar</c:v>
                  </c:pt>
                  <c:pt idx="75">
                    <c:v>16 Mar</c:v>
                  </c:pt>
                  <c:pt idx="76">
                    <c:v>17 Mar</c:v>
                  </c:pt>
                  <c:pt idx="77">
                    <c:v>18 Mar</c:v>
                  </c:pt>
                  <c:pt idx="78">
                    <c:v>19 Mar</c:v>
                  </c:pt>
                  <c:pt idx="79">
                    <c:v>20 Mar</c:v>
                  </c:pt>
                  <c:pt idx="80">
                    <c:v>21 Mar</c:v>
                  </c:pt>
                  <c:pt idx="81">
                    <c:v>22 Mar</c:v>
                  </c:pt>
                  <c:pt idx="82">
                    <c:v>23 Mar</c:v>
                  </c:pt>
                  <c:pt idx="83">
                    <c:v>24 Mar</c:v>
                  </c:pt>
                  <c:pt idx="84">
                    <c:v>25 Mar</c:v>
                  </c:pt>
                  <c:pt idx="85">
                    <c:v>26 Mar</c:v>
                  </c:pt>
                  <c:pt idx="86">
                    <c:v>27 Mar</c:v>
                  </c:pt>
                  <c:pt idx="87">
                    <c:v>28 Mar</c:v>
                  </c:pt>
                  <c:pt idx="88">
                    <c:v>29 Mar</c:v>
                  </c:pt>
                  <c:pt idx="89">
                    <c:v>30 Mar</c:v>
                  </c:pt>
                  <c:pt idx="90">
                    <c:v>31 Mar</c:v>
                  </c:pt>
                  <c:pt idx="91">
                    <c:v>1 Apr</c:v>
                  </c:pt>
                </c:lvl>
              </c:multiLvlStrCache>
            </c:multiLvlStrRef>
          </c:cat>
          <c:val>
            <c:numRef>
              <c:f>Sheet1!$B$2:$B$93</c:f>
              <c:numCache>
                <c:formatCode>General</c:formatCode>
                <c:ptCount val="92"/>
                <c:pt idx="0">
                  <c:v>5.13</c:v>
                </c:pt>
                <c:pt idx="1">
                  <c:v>10.86</c:v>
                </c:pt>
                <c:pt idx="2">
                  <c:v>6.1</c:v>
                </c:pt>
                <c:pt idx="3">
                  <c:v>8.56</c:v>
                </c:pt>
                <c:pt idx="4">
                  <c:v>15.57</c:v>
                </c:pt>
                <c:pt idx="5">
                  <c:v>12.23</c:v>
                </c:pt>
                <c:pt idx="6">
                  <c:v>8.3</c:v>
                </c:pt>
                <c:pt idx="7">
                  <c:v>10.74</c:v>
                </c:pt>
                <c:pt idx="8">
                  <c:v>15.45</c:v>
                </c:pt>
                <c:pt idx="9">
                  <c:v>6.77</c:v>
                </c:pt>
                <c:pt idx="10">
                  <c:v>11.24</c:v>
                </c:pt>
                <c:pt idx="11">
                  <c:v>5.49</c:v>
                </c:pt>
                <c:pt idx="12">
                  <c:v>9.87</c:v>
                </c:pt>
                <c:pt idx="13">
                  <c:v>14.18</c:v>
                </c:pt>
                <c:pt idx="14">
                  <c:v>5.68</c:v>
                </c:pt>
                <c:pt idx="15">
                  <c:v>8.83</c:v>
                </c:pt>
                <c:pt idx="16">
                  <c:v>5.61</c:v>
                </c:pt>
                <c:pt idx="17">
                  <c:v>8.02</c:v>
                </c:pt>
                <c:pt idx="18">
                  <c:v>5.47</c:v>
                </c:pt>
                <c:pt idx="19">
                  <c:v>8.23</c:v>
                </c:pt>
                <c:pt idx="20">
                  <c:v>20.38</c:v>
                </c:pt>
                <c:pt idx="21">
                  <c:v>10.87</c:v>
                </c:pt>
                <c:pt idx="22">
                  <c:v>15.44</c:v>
                </c:pt>
                <c:pt idx="23">
                  <c:v>9.74</c:v>
                </c:pt>
                <c:pt idx="24">
                  <c:v>6.24</c:v>
                </c:pt>
                <c:pt idx="25">
                  <c:v>5.89</c:v>
                </c:pt>
                <c:pt idx="26">
                  <c:v>4.27</c:v>
                </c:pt>
                <c:pt idx="27">
                  <c:v>6.54</c:v>
                </c:pt>
                <c:pt idx="28">
                  <c:v>8.87</c:v>
                </c:pt>
                <c:pt idx="29">
                  <c:v>13</c:v>
                </c:pt>
                <c:pt idx="30">
                  <c:v>7.64</c:v>
                </c:pt>
                <c:pt idx="31">
                  <c:v>11.58</c:v>
                </c:pt>
                <c:pt idx="32">
                  <c:v>9.87</c:v>
                </c:pt>
                <c:pt idx="33">
                  <c:v>15.54</c:v>
                </c:pt>
                <c:pt idx="34">
                  <c:v>7.58</c:v>
                </c:pt>
                <c:pt idx="35">
                  <c:v>12.76</c:v>
                </c:pt>
                <c:pt idx="36">
                  <c:v>14.41</c:v>
                </c:pt>
                <c:pt idx="37">
                  <c:v>7.42</c:v>
                </c:pt>
                <c:pt idx="38">
                  <c:v>3.88</c:v>
                </c:pt>
                <c:pt idx="39">
                  <c:v>12.44</c:v>
                </c:pt>
                <c:pt idx="40">
                  <c:v>10.77</c:v>
                </c:pt>
                <c:pt idx="41">
                  <c:v>11.9</c:v>
                </c:pt>
                <c:pt idx="42">
                  <c:v>11.41</c:v>
                </c:pt>
                <c:pt idx="43">
                  <c:v>10.1</c:v>
                </c:pt>
                <c:pt idx="44">
                  <c:v>12.36</c:v>
                </c:pt>
                <c:pt idx="45">
                  <c:v>8.03</c:v>
                </c:pt>
                <c:pt idx="46">
                  <c:v>12.58</c:v>
                </c:pt>
                <c:pt idx="47">
                  <c:v>4.77</c:v>
                </c:pt>
                <c:pt idx="48">
                  <c:v>19.94</c:v>
                </c:pt>
                <c:pt idx="49">
                  <c:v>47.08</c:v>
                </c:pt>
                <c:pt idx="50">
                  <c:v>10.67</c:v>
                </c:pt>
                <c:pt idx="51">
                  <c:v>18.21</c:v>
                </c:pt>
                <c:pt idx="52">
                  <c:v>13.99</c:v>
                </c:pt>
                <c:pt idx="53">
                  <c:v>19.26</c:v>
                </c:pt>
                <c:pt idx="54">
                  <c:v>10.41</c:v>
                </c:pt>
                <c:pt idx="55">
                  <c:v>16.98</c:v>
                </c:pt>
                <c:pt idx="56">
                  <c:v>21.77</c:v>
                </c:pt>
                <c:pt idx="57">
                  <c:v>23.35</c:v>
                </c:pt>
                <c:pt idx="58">
                  <c:v>12.83</c:v>
                </c:pt>
                <c:pt idx="59">
                  <c:v>0.39</c:v>
                </c:pt>
                <c:pt idx="60">
                  <c:v>11.98</c:v>
                </c:pt>
                <c:pt idx="61">
                  <c:v>22.67</c:v>
                </c:pt>
                <c:pt idx="62">
                  <c:v>23.41</c:v>
                </c:pt>
                <c:pt idx="63">
                  <c:v>26.79</c:v>
                </c:pt>
                <c:pt idx="64">
                  <c:v>35.71</c:v>
                </c:pt>
                <c:pt idx="65">
                  <c:v>28.57</c:v>
                </c:pt>
                <c:pt idx="66">
                  <c:v>17.02</c:v>
                </c:pt>
                <c:pt idx="67">
                  <c:v>24.25</c:v>
                </c:pt>
                <c:pt idx="68">
                  <c:v>19.52</c:v>
                </c:pt>
                <c:pt idx="69">
                  <c:v>11.97</c:v>
                </c:pt>
                <c:pt idx="70">
                  <c:v>26.75</c:v>
                </c:pt>
                <c:pt idx="71">
                  <c:v>58.1</c:v>
                </c:pt>
                <c:pt idx="72">
                  <c:v>30.31</c:v>
                </c:pt>
                <c:pt idx="73">
                  <c:v>8.15</c:v>
                </c:pt>
                <c:pt idx="74">
                  <c:v>24.9</c:v>
                </c:pt>
                <c:pt idx="75">
                  <c:v>8.41</c:v>
                </c:pt>
                <c:pt idx="76">
                  <c:v>9.65</c:v>
                </c:pt>
                <c:pt idx="77">
                  <c:v>24.65</c:v>
                </c:pt>
                <c:pt idx="78">
                  <c:v>35.65</c:v>
                </c:pt>
                <c:pt idx="79">
                  <c:v>30.51</c:v>
                </c:pt>
                <c:pt idx="80">
                  <c:v>8.73</c:v>
                </c:pt>
                <c:pt idx="81">
                  <c:v>10.96</c:v>
                </c:pt>
                <c:pt idx="82">
                  <c:v>20.91</c:v>
                </c:pt>
                <c:pt idx="83">
                  <c:v>67.08</c:v>
                </c:pt>
                <c:pt idx="84">
                  <c:v>38.61</c:v>
                </c:pt>
                <c:pt idx="85">
                  <c:v>44.48</c:v>
                </c:pt>
                <c:pt idx="86">
                  <c:v>18.82</c:v>
                </c:pt>
                <c:pt idx="87">
                  <c:v>9.08</c:v>
                </c:pt>
                <c:pt idx="88">
                  <c:v>40.24</c:v>
                </c:pt>
                <c:pt idx="89">
                  <c:v>86.54</c:v>
                </c:pt>
                <c:pt idx="90">
                  <c:v>14.38</c:v>
                </c:pt>
                <c:pt idx="91">
                  <c:v>0.16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114.91</c:v>
                </c:pt>
                <c:pt idx="1">
                  <c:v>198.89</c:v>
                </c:pt>
                <c:pt idx="2">
                  <c:v>234.13</c:v>
                </c:pt>
                <c:pt idx="3">
                  <c:v>232.27</c:v>
                </c:pt>
                <c:pt idx="4">
                  <c:v>251.27</c:v>
                </c:pt>
                <c:pt idx="5">
                  <c:v>296.03</c:v>
                </c:pt>
                <c:pt idx="6">
                  <c:v>194.89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Weekday</c:v>
                  </c:pt>
                  <c:pt idx="1">
                    <c:v>Weekend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1031.47</c:v>
                </c:pt>
                <c:pt idx="1">
                  <c:v>490.92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4"/>
          <c:y val="0.03"/>
          <c:w val="0.56"/>
          <c:h val="0.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E! Entertainment</c:v>
                  </c:pt>
                  <c:pt idx="1">
                    <c:v>Africa Magic</c:v>
                  </c:pt>
                  <c:pt idx="2">
                    <c:v>CNN</c:v>
                  </c:pt>
                  <c:pt idx="3">
                    <c:v>Cartoon Network</c:v>
                  </c:pt>
                  <c:pt idx="4">
                    <c:v>Boomerang</c:v>
                  </c:pt>
                  <c:pt idx="5">
                    <c:v>SuperSport Blitz</c:v>
                  </c:pt>
                  <c:pt idx="6">
                    <c:v>Trace TV</c:v>
                  </c:pt>
                  <c:pt idx="7">
                    <c:v>Channel O</c:v>
                  </c:pt>
                  <c:pt idx="8">
                    <c:v>SuperSport Live Events</c:v>
                  </c:pt>
                  <c:pt idx="9">
                    <c:v>ICC Cricket World Cup 2011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36.98</c:v>
                </c:pt>
                <c:pt idx="1">
                  <c:v>48.77</c:v>
                </c:pt>
                <c:pt idx="2">
                  <c:v>67.78</c:v>
                </c:pt>
                <c:pt idx="3">
                  <c:v>70.25</c:v>
                </c:pt>
                <c:pt idx="4">
                  <c:v>73.26</c:v>
                </c:pt>
                <c:pt idx="5">
                  <c:v>90.68</c:v>
                </c:pt>
                <c:pt idx="6">
                  <c:v>191.92</c:v>
                </c:pt>
                <c:pt idx="7">
                  <c:v>192.1</c:v>
                </c:pt>
                <c:pt idx="8">
                  <c:v>313.54</c:v>
                </c:pt>
                <c:pt idx="9">
                  <c:v>412.13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Early Morning</c:v>
                  </c:pt>
                  <c:pt idx="1">
                    <c:v>Morning</c:v>
                  </c:pt>
                  <c:pt idx="2">
                    <c:v>Afternoon</c:v>
                  </c:pt>
                  <c:pt idx="3">
                    <c:v>Evening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86.62</c:v>
                </c:pt>
                <c:pt idx="1">
                  <c:v>321.34</c:v>
                </c:pt>
                <c:pt idx="2">
                  <c:v>673.91</c:v>
                </c:pt>
                <c:pt idx="3">
                  <c:v>440.52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4"/>
          <c:y val="0.03"/>
          <c:w val="0.56"/>
          <c:h val="0.8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Northern Cape</c:v>
                  </c:pt>
                  <c:pt idx="1">
                    <c:v>Unknown</c:v>
                  </c:pt>
                  <c:pt idx="2">
                    <c:v>North West</c:v>
                  </c:pt>
                  <c:pt idx="3">
                    <c:v>Free State</c:v>
                  </c:pt>
                  <c:pt idx="4">
                    <c:v>Limpopo</c:v>
                  </c:pt>
                  <c:pt idx="5">
                    <c:v>Eastern Cape</c:v>
                  </c:pt>
                  <c:pt idx="6">
                    <c:v>Mpumalanga</c:v>
                  </c:pt>
                  <c:pt idx="7">
                    <c:v>Kwazulu Natal</c:v>
                  </c:pt>
                  <c:pt idx="8">
                    <c:v>Western Cape</c:v>
                  </c:pt>
                  <c:pt idx="9">
                    <c:v>Gauteng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27.67</c:v>
                </c:pt>
                <c:pt idx="1">
                  <c:v>36.25</c:v>
                </c:pt>
                <c:pt idx="2">
                  <c:v>43.49</c:v>
                </c:pt>
                <c:pt idx="3">
                  <c:v>52.4</c:v>
                </c:pt>
                <c:pt idx="4">
                  <c:v>104.66</c:v>
                </c:pt>
                <c:pt idx="5">
                  <c:v>115.07</c:v>
                </c:pt>
                <c:pt idx="6">
                  <c:v>130.71</c:v>
                </c:pt>
                <c:pt idx="7">
                  <c:v>158.22</c:v>
                </c:pt>
                <c:pt idx="8">
                  <c:v>300.33</c:v>
                </c:pt>
                <c:pt idx="9">
                  <c:v>553.6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Watch Time (hours)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0–17</c:v>
                  </c:pt>
                  <c:pt idx="1">
                    <c:v>18–24</c:v>
                  </c:pt>
                  <c:pt idx="2">
                    <c:v>25–34</c:v>
                  </c:pt>
                  <c:pt idx="3">
                    <c:v>35–44</c:v>
                  </c:pt>
                  <c:pt idx="4">
                    <c:v>45–54</c:v>
                  </c:pt>
                  <c:pt idx="5">
                    <c:v>55+</c:v>
                  </c:pt>
                  <c:pt idx="6">
                    <c:v>Unknown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38.06</c:v>
                </c:pt>
                <c:pt idx="1">
                  <c:v>187.28</c:v>
                </c:pt>
                <c:pt idx="2">
                  <c:v>664.38</c:v>
                </c:pt>
                <c:pt idx="3">
                  <c:v>403.95</c:v>
                </c:pt>
                <c:pt idx="4">
                  <c:v>161.55</c:v>
                </c:pt>
                <c:pt idx="5">
                  <c:v>30.93</c:v>
                </c:pt>
                <c:pt idx="6">
                  <c:v>36.24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B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chart" Target="/ppt/charts/chart12.xml"/><Relationship Id="rId6" Type="http://schemas.openxmlformats.org/officeDocument/2006/relationships/chart" Target="/ppt/charts/chart13.xml"/><Relationship Id="rId7" Type="http://schemas.openxmlformats.org/officeDocument/2006/relationships/chart" Target="/ppt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852160" cy="5852160"/>
          </a:xfrm>
          <a:prstGeom prst="ellipse">
            <a:avLst/>
          </a:prstGeom>
          <a:solidFill>
            <a:srgbClr val="1F4E79">
              <a:alpha val="65000"/>
            </a:srgbClr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4206240" cy="4206240"/>
          </a:xfrm>
          <a:prstGeom prst="ellipse">
            <a:avLst/>
          </a:prstGeom>
          <a:solidFill>
            <a:srgbClr val="1F4E79">
              <a:alpha val="40000"/>
            </a:srgbClr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81160" y="1828800"/>
            <a:ext cx="1737360" cy="1737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1945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103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VIEWERSHIP ANALYSIS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spc="300" kern="0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ETHABA MHLONGO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BRIGHT TV viewing behaviour using: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11680" cy="214884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2860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4505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Consumption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811780" y="2011680"/>
            <a:ext cx="2011680" cy="214884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1860" y="22860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24505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0322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074920" y="2011680"/>
            <a:ext cx="2011680" cy="214884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4505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6636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7338060" y="2011680"/>
            <a:ext cx="2011680" cy="214884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78140" y="22860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4505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42950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Patterns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9601200" y="2011680"/>
            <a:ext cx="2011680" cy="214884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41280" y="2286000"/>
            <a:ext cx="731520" cy="73152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4505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692640" y="3108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Demographics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9,995 viewing sessions from 4,386 users, 1 Jan 2016 to 1 Apr 2016.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548640" y="5349240"/>
            <a:ext cx="256032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53212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325880" y="5349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2000" dirty="0"/>
          </a:p>
        </p:txBody>
      </p:sp>
      <p:sp>
        <p:nvSpPr>
          <p:cNvPr id="30" name="Shape 22"/>
          <p:cNvSpPr/>
          <p:nvPr/>
        </p:nvSpPr>
        <p:spPr>
          <a:xfrm>
            <a:off x="3392424" y="5349240"/>
            <a:ext cx="256032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55321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169664" y="5349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33" name="Shape 24"/>
          <p:cNvSpPr/>
          <p:nvPr/>
        </p:nvSpPr>
        <p:spPr>
          <a:xfrm>
            <a:off x="6236208" y="5349240"/>
            <a:ext cx="256032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5532120"/>
            <a:ext cx="365760" cy="36576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13448" y="5349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000" dirty="0"/>
          </a:p>
        </p:txBody>
      </p:sp>
      <p:sp>
        <p:nvSpPr>
          <p:cNvPr id="36" name="Shape 26"/>
          <p:cNvSpPr/>
          <p:nvPr/>
        </p:nvSpPr>
        <p:spPr>
          <a:xfrm>
            <a:off x="9079992" y="5349240"/>
            <a:ext cx="256032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4312" y="553212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857232" y="5349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VIEWING CONSUMPTION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86.5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on the peak day, 30 Mar 2016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was recorded on all 92 days, 1 Jan 2016 to 1 Apr 2016.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day was 1 Apr 2016 at 0.2 hours.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was 16.5 hours per day.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2016 recorded 838.8 hours, 55.1% of the total.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DAY OF WEEK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day, 296.0 hours (19.4%)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was the lowest day with 114.9 hours (7.5%).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was second highest with 251.3 hours.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Friday together account for 36.0% of watch time.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watch time came on weekdays (1,031.5 hours)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recorded 490.9 hours (32.2%).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 has 66 weekdays and 26 weekend days.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weekday: 15.6 hours. Average per weekend day: 18.9 hours.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WATCH TIME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channel, 412.1 hours (27.1%)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 Live Events was second with 313.5 hours.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channels account for 60.3% of watch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channels account for 98.4%; #10 is E! Entertainment with 37.0 hours.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TIME OF 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period, 673.9 hours (44.3%)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was second with 440.5 hours (28.9%).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recorded 321.3 hours (21.1%).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was the lowest with 86.6 hours (5.7%).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PROVINCE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province, 553.6 hours (36.4%)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 was second with 300.3 hours (19.7%).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and Western Cape together account for 56.1%.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 was the lowest known province with 27.7 hours.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no province recorded (Unknown): 36.3 hours.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AGE GROUP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8638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37160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280160"/>
            <a:ext cx="2953512" cy="493776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69680" y="14173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869680" y="2331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age group, 664.4 hours (43.6%)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869680" y="3108960"/>
            <a:ext cx="2606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35–44 was second with 404.0 hours (26.5%).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25–44 together account for 70.2% of watch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was the lowest known group with 30.9 hours.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with no age recorded (Unknown): 36.2 hours.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TV VIEWERSHIP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1031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50058" y="868680"/>
            <a:ext cx="21031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0058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VIEWING SESSIONS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750058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9,995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42916" y="868680"/>
            <a:ext cx="21031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42916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WATCH TIME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42916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1,522:23:11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35774" y="868680"/>
            <a:ext cx="21031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5774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CHANNELS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35774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9628632" y="868680"/>
            <a:ext cx="2103120" cy="868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28632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WATCH TIME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0:09:08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555040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1920240"/>
            <a:ext cx="5458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Viewing Consumption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02920" y="2194560"/>
          <a:ext cx="5458968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181344" y="1874520"/>
            <a:ext cx="268833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08776" y="19202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Day of Week</a:t>
            </a:r>
            <a:endParaRPr lang="en-US" sz="1100" dirty="0"/>
          </a:p>
        </p:txBody>
      </p:sp>
      <p:graphicFrame>
        <p:nvGraphicFramePr>
          <p:cNvPr id="23" name="Chart 1" descr=""/>
          <p:cNvGraphicFramePr/>
          <p:nvPr/>
        </p:nvGraphicFramePr>
        <p:xfrm>
          <a:off x="6208776" y="2194560"/>
          <a:ext cx="2633472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Shape 20"/>
          <p:cNvSpPr/>
          <p:nvPr/>
        </p:nvSpPr>
        <p:spPr>
          <a:xfrm>
            <a:off x="9043416" y="1874520"/>
            <a:ext cx="2688336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070848" y="192024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100" dirty="0"/>
          </a:p>
        </p:txBody>
      </p:sp>
      <p:graphicFrame>
        <p:nvGraphicFramePr>
          <p:cNvPr id="26" name="Chart 2" descr=""/>
          <p:cNvGraphicFramePr/>
          <p:nvPr/>
        </p:nvGraphicFramePr>
        <p:xfrm>
          <a:off x="9070848" y="2194560"/>
          <a:ext cx="2633472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Shape 22"/>
          <p:cNvSpPr/>
          <p:nvPr/>
        </p:nvSpPr>
        <p:spPr>
          <a:xfrm>
            <a:off x="457200" y="397764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84632" y="4023360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Channels by Watch Time</a:t>
            </a:r>
            <a:endParaRPr lang="en-US" sz="1100" dirty="0"/>
          </a:p>
        </p:txBody>
      </p:sp>
      <p:graphicFrame>
        <p:nvGraphicFramePr>
          <p:cNvPr id="29" name="Chart 3" descr=""/>
          <p:cNvGraphicFramePr/>
          <p:nvPr/>
        </p:nvGraphicFramePr>
        <p:xfrm>
          <a:off x="484632" y="4297680"/>
          <a:ext cx="4059936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0" name="Shape 24"/>
          <p:cNvSpPr/>
          <p:nvPr/>
        </p:nvSpPr>
        <p:spPr>
          <a:xfrm>
            <a:off x="4745736" y="3977640"/>
            <a:ext cx="22128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773168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Time of Day</a:t>
            </a:r>
            <a:endParaRPr lang="en-US" sz="1100" dirty="0"/>
          </a:p>
        </p:txBody>
      </p:sp>
      <p:graphicFrame>
        <p:nvGraphicFramePr>
          <p:cNvPr id="32" name="Chart 4" descr=""/>
          <p:cNvGraphicFramePr/>
          <p:nvPr/>
        </p:nvGraphicFramePr>
        <p:xfrm>
          <a:off x="4773168" y="4297680"/>
          <a:ext cx="2157984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132320" y="3977640"/>
            <a:ext cx="22128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159752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Province</a:t>
            </a:r>
            <a:endParaRPr lang="en-US" sz="1100" dirty="0"/>
          </a:p>
        </p:txBody>
      </p:sp>
      <p:graphicFrame>
        <p:nvGraphicFramePr>
          <p:cNvPr id="35" name="Chart 5" descr=""/>
          <p:cNvGraphicFramePr/>
          <p:nvPr/>
        </p:nvGraphicFramePr>
        <p:xfrm>
          <a:off x="7159752" y="4297680"/>
          <a:ext cx="2157984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Shape 28"/>
          <p:cNvSpPr/>
          <p:nvPr/>
        </p:nvSpPr>
        <p:spPr>
          <a:xfrm>
            <a:off x="9518904" y="3977640"/>
            <a:ext cx="2212848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9546336" y="402336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by Age Group</a:t>
            </a:r>
            <a:endParaRPr lang="en-US" sz="1100" dirty="0"/>
          </a:p>
        </p:txBody>
      </p:sp>
      <p:graphicFrame>
        <p:nvGraphicFramePr>
          <p:cNvPr id="38" name="Chart 6" descr=""/>
          <p:cNvGraphicFramePr/>
          <p:nvPr/>
        </p:nvGraphicFramePr>
        <p:xfrm>
          <a:off x="9546336" y="4297680"/>
          <a:ext cx="2157984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Viewing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 was 30 Mar 2016 at 86.5 hours. March recorded 55.1% of all watch time, averaging 16.5 hours per day overall.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92424" y="13258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5304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was highest (19.4%) and Monday lowest (7.5%). Saturday and Friday together make up 36.0%.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6208" y="13258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19088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hold 67.8% of watch time, but a weekend day averages 18.9 hours against 15.6 for a weekday.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79992" y="13258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World Cup 2011 leads with 27.1%. The top 3 channels hold 60.3% and the top 10 hold 98.4%.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80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is highest (44.3%), then Evening (28.9%) and Morning (21.1%). Early Morning is lowest (5.7%).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92424" y="38404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75304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575304" y="4480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leads with 36.4%, then Western Cape (19.7%). Together they account for 56.1%.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36208" y="3840480"/>
            <a:ext cx="2560320" cy="2286000"/>
          </a:xfrm>
          <a:prstGeom prst="rect">
            <a:avLst/>
          </a:prstGeom>
          <a:solidFill>
            <a:srgbClr val="F3F7FB"/>
          </a:solidFill>
          <a:ln w="12700">
            <a:solidFill>
              <a:srgbClr val="DDEB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19088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19088" y="4480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25–34 is the largest group (43.6%). Ages 25–44 together account for 70.2% of watch time.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079992" y="3840480"/>
            <a:ext cx="2560320" cy="2286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62872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62872" y="44805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9,995 sessions from 4,386 users across 19 channels totalled 1,522:23:11 of watch time, 0:09:08 per session.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TV VIEWERSHIP ANALYSIS</dc:title>
  <dc:subject>PptxGenJS Presentation</dc:subject>
  <dc:creator>ETHABA MHLONGO</dc:creator>
  <cp:lastModifiedBy>ETHABA MHLONGO</cp:lastModifiedBy>
  <cp:revision>1</cp:revision>
  <dcterms:created xsi:type="dcterms:W3CDTF">2026-10-01T10:35:03Z</dcterms:created>
  <dcterms:modified xsi:type="dcterms:W3CDTF">2026-10-01T10:35:03Z</dcterms:modified>
</cp:coreProperties>
</file>